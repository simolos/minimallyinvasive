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7" r:id="rId5"/>
    <p:sldId id="260" r:id="rId6"/>
    <p:sldId id="281" r:id="rId7"/>
    <p:sldId id="271" r:id="rId8"/>
    <p:sldId id="272" r:id="rId9"/>
    <p:sldId id="274" r:id="rId10"/>
    <p:sldId id="273" r:id="rId11"/>
    <p:sldId id="282" r:id="rId12"/>
    <p:sldId id="276" r:id="rId13"/>
    <p:sldId id="275" r:id="rId14"/>
    <p:sldId id="277" r:id="rId15"/>
    <p:sldId id="278" r:id="rId16"/>
    <p:sldId id="279" r:id="rId17"/>
    <p:sldId id="280" r:id="rId18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49" autoAdjust="0"/>
    <p:restoredTop sz="97840"/>
  </p:normalViewPr>
  <p:slideViewPr>
    <p:cSldViewPr snapToGrid="0" snapToObjects="1" showGuides="1">
      <p:cViewPr varScale="1">
        <p:scale>
          <a:sx n="170" d="100"/>
          <a:sy n="170" d="100"/>
        </p:scale>
        <p:origin x="252" y="1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50" d="100"/>
          <a:sy n="150" d="100"/>
        </p:scale>
        <p:origin x="608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79B33-A94D-4C8C-88C2-619932967EF3}" type="datetimeFigureOut">
              <a:rPr lang="fr-CH" smtClean="0">
                <a:latin typeface="Arial" panose="020B0604020202020204" pitchFamily="34" charset="0"/>
              </a:rPr>
              <a:t>17.01.2025</a:t>
            </a:fld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‹#›</a:t>
            </a:fld>
            <a:endParaRPr lang="fr-C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8103E42-5239-1A40-AD33-3EE7E9DDF5FD}" type="datetimeFigureOut">
              <a:rPr lang="fr-FR" smtClean="0"/>
              <a:pPr/>
              <a:t>17/01/2025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LA=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local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anesthesia</a:t>
            </a:r>
            <a:endParaRPr lang="it-IT" b="0" i="0" u="none" strike="noStrike" dirty="0">
              <a:solidFill>
                <a:srgbClr val="000000"/>
              </a:solidFill>
              <a:effectLst/>
              <a:highlight>
                <a:srgbClr val="FFFFFF"/>
              </a:highlight>
              <a:latin typeface="AkkuratStd"/>
            </a:endParaRPr>
          </a:p>
          <a:p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GA=general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anesthesia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938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The first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indication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 of the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Epios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system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is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epilepsy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,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but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also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spinal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cord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injury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and stroke,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as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well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as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Parkinson’s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disease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,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sleep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disorders,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pain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management and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neuromodulation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of brain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circuits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for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mental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 health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applications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426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0121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2021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7205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5164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1898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541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7169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026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8642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5594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3981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50" y="4440264"/>
            <a:ext cx="698500" cy="507975"/>
          </a:xfrm>
        </p:spPr>
        <p:txBody>
          <a:bodyPr lIns="0" tIns="0" rIns="0" bIns="0" anchor="b" anchorCtr="0">
            <a:noAutofit/>
          </a:bodyPr>
          <a:lstStyle>
            <a:lvl1pPr marL="114300" indent="-107950">
              <a:buFontTx/>
              <a:buBlip>
                <a:blip r:embed="rId3"/>
              </a:buBlip>
              <a:tabLst/>
              <a:defRPr sz="7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395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3142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8239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221413" y="2778452"/>
            <a:ext cx="3341052" cy="911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81" r:id="rId3"/>
    <p:sldLayoutId id="2147483673" r:id="rId4"/>
    <p:sldLayoutId id="2147483662" r:id="rId5"/>
    <p:sldLayoutId id="2147483674" r:id="rId6"/>
    <p:sldLayoutId id="2147483675" r:id="rId7"/>
    <p:sldLayoutId id="2147483682" r:id="rId8"/>
    <p:sldLayoutId id="2147483676" r:id="rId9"/>
    <p:sldLayoutId id="2147483664" r:id="rId10"/>
    <p:sldLayoutId id="2147483666" r:id="rId11"/>
    <p:sldLayoutId id="2147483677" r:id="rId12"/>
    <p:sldLayoutId id="2147483678" r:id="rId13"/>
    <p:sldLayoutId id="2147483679" r:id="rId14"/>
    <p:sldLayoutId id="2147483667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F21C7-56BC-A74B-BA53-D2D4021D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Market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for </a:t>
            </a:r>
            <a:r>
              <a:rPr lang="fr-FR" dirty="0" err="1"/>
              <a:t>minimally</a:t>
            </a:r>
            <a:r>
              <a:rPr lang="fr-FR" dirty="0"/>
              <a:t> invasive TIS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E3DCC4-356B-A340-9BF5-39AD9E375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9178B4-D530-1544-B47E-4E68F08892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253E77-58BB-5342-B218-CB0FEF98A9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4A1B980-40E8-44DF-2744-F2D8EF0F4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60" y="358815"/>
            <a:ext cx="2573047" cy="974865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CDAC399F-ED1E-C5A6-BDB6-3CDA08EE5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2" y="1519821"/>
            <a:ext cx="990336" cy="1563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BB3723-3D08-BC51-998D-02777478E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23" y="1589008"/>
            <a:ext cx="2629858" cy="1411324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8CA4D4E5-0B54-D579-076C-FE56915C7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8202" y="3174406"/>
            <a:ext cx="1168558" cy="168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70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</a:t>
            </a:fld>
            <a:endParaRPr lang="fr-FR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DEB82E4C-8232-0194-2C81-E980CF60F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36" y="22615"/>
            <a:ext cx="7772400" cy="509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9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C04D4F0-9F00-D043-B80F-52268AB0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739356"/>
            <a:ext cx="7726363" cy="2494858"/>
          </a:xfrm>
        </p:spPr>
        <p:txBody>
          <a:bodyPr/>
          <a:lstStyle/>
          <a:p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recording</a:t>
            </a:r>
            <a:r>
              <a:rPr lang="fr-FR" dirty="0"/>
              <a:t> (</a:t>
            </a:r>
            <a:r>
              <a:rPr lang="fr-FR" dirty="0" err="1"/>
              <a:t>bilateral</a:t>
            </a:r>
            <a:r>
              <a:rPr lang="fr-FR" dirty="0"/>
              <a:t>)</a:t>
            </a:r>
          </a:p>
          <a:p>
            <a:r>
              <a:rPr lang="fr-FR" dirty="0" err="1"/>
              <a:t>Subscalp</a:t>
            </a:r>
            <a:r>
              <a:rPr lang="fr-FR" dirty="0"/>
              <a:t> </a:t>
            </a:r>
            <a:r>
              <a:rPr lang="fr-FR" dirty="0" err="1"/>
              <a:t>sensing</a:t>
            </a:r>
            <a:r>
              <a:rPr lang="fr-FR" dirty="0"/>
              <a:t> </a:t>
            </a:r>
            <a:r>
              <a:rPr lang="fr-FR" dirty="0" err="1"/>
              <a:t>electrodes</a:t>
            </a:r>
            <a:r>
              <a:rPr lang="fr-FR" dirty="0"/>
              <a:t> + miniature implant </a:t>
            </a:r>
            <a:r>
              <a:rPr lang="fr-FR" dirty="0" err="1"/>
              <a:t>beneath</a:t>
            </a:r>
            <a:r>
              <a:rPr lang="fr-FR" dirty="0"/>
              <a:t> the skin </a:t>
            </a:r>
            <a:r>
              <a:rPr lang="fr-FR" dirty="0" err="1"/>
              <a:t>powered</a:t>
            </a:r>
            <a:r>
              <a:rPr lang="fr-FR" dirty="0"/>
              <a:t> by an </a:t>
            </a:r>
            <a:r>
              <a:rPr lang="fr-FR" dirty="0" err="1"/>
              <a:t>external</a:t>
            </a:r>
            <a:r>
              <a:rPr lang="fr-FR" dirty="0"/>
              <a:t> </a:t>
            </a:r>
            <a:r>
              <a:rPr lang="fr-FR" dirty="0" err="1"/>
              <a:t>device</a:t>
            </a:r>
            <a:r>
              <a:rPr lang="fr-FR" dirty="0"/>
              <a:t> (</a:t>
            </a:r>
            <a:r>
              <a:rPr lang="fr-FR" dirty="0" err="1"/>
              <a:t>Epios</a:t>
            </a:r>
            <a:r>
              <a:rPr lang="fr-FR" dirty="0"/>
              <a:t> </a:t>
            </a:r>
            <a:r>
              <a:rPr lang="fr-FR" dirty="0" err="1"/>
              <a:t>Wearable</a:t>
            </a:r>
            <a:r>
              <a:rPr lang="fr-FR" dirty="0"/>
              <a:t>)</a:t>
            </a:r>
          </a:p>
          <a:p>
            <a:r>
              <a:rPr lang="fr-FR" dirty="0"/>
              <a:t>EW </a:t>
            </a:r>
            <a:r>
              <a:rPr lang="fr-FR" dirty="0" err="1"/>
              <a:t>held</a:t>
            </a:r>
            <a:r>
              <a:rPr lang="fr-FR" dirty="0"/>
              <a:t> in place on the skin over the implant </a:t>
            </a:r>
            <a:r>
              <a:rPr lang="fr-FR" dirty="0" err="1"/>
              <a:t>with</a:t>
            </a:r>
            <a:r>
              <a:rPr lang="fr-FR" dirty="0"/>
              <a:t> a magnet </a:t>
            </a:r>
            <a:r>
              <a:rPr lang="fr-FR" dirty="0">
                <a:sym typeface="Wingdings" pitchFamily="2" charset="2"/>
              </a:rPr>
              <a:t></a:t>
            </a:r>
            <a:r>
              <a:rPr lang="fr-FR" dirty="0"/>
              <a:t> </a:t>
            </a:r>
            <a:r>
              <a:rPr lang="fr-FR" dirty="0" err="1"/>
              <a:t>external</a:t>
            </a:r>
            <a:r>
              <a:rPr lang="fr-FR" dirty="0"/>
              <a:t> </a:t>
            </a:r>
            <a:r>
              <a:rPr lang="fr-FR" dirty="0" err="1"/>
              <a:t>receiver</a:t>
            </a:r>
            <a:r>
              <a:rPr lang="fr-FR" dirty="0"/>
              <a:t> and data processor </a:t>
            </a:r>
          </a:p>
          <a:p>
            <a:pPr lvl="1"/>
            <a:r>
              <a:rPr lang="fr-FR" dirty="0"/>
              <a:t>Wireless transmission of neural </a:t>
            </a:r>
            <a:r>
              <a:rPr lang="fr-FR" dirty="0" err="1"/>
              <a:t>signals</a:t>
            </a:r>
            <a:r>
              <a:rPr lang="fr-FR" dirty="0"/>
              <a:t> to the </a:t>
            </a:r>
            <a:r>
              <a:rPr lang="fr-FR" dirty="0" err="1"/>
              <a:t>receiver</a:t>
            </a:r>
            <a:r>
              <a:rPr lang="fr-FR" dirty="0"/>
              <a:t> </a:t>
            </a:r>
            <a:r>
              <a:rPr lang="fr-FR" dirty="0">
                <a:sym typeface="Wingdings" pitchFamily="2" charset="2"/>
              </a:rPr>
              <a:t> </a:t>
            </a:r>
            <a:r>
              <a:rPr lang="fr-FR" dirty="0" err="1">
                <a:sym typeface="Wingdings" pitchFamily="2" charset="2"/>
              </a:rPr>
              <a:t>conveyed</a:t>
            </a:r>
            <a:r>
              <a:rPr lang="fr-FR" dirty="0">
                <a:sym typeface="Wingdings" pitchFamily="2" charset="2"/>
              </a:rPr>
              <a:t> to data processor  </a:t>
            </a:r>
            <a:r>
              <a:rPr lang="fr-FR" dirty="0" err="1">
                <a:sym typeface="Wingdings" pitchFamily="2" charset="2"/>
              </a:rPr>
              <a:t>stored</a:t>
            </a:r>
            <a:r>
              <a:rPr lang="fr-FR" dirty="0">
                <a:sym typeface="Wingdings" pitchFamily="2" charset="2"/>
              </a:rPr>
              <a:t> in the </a:t>
            </a:r>
            <a:r>
              <a:rPr lang="fr-FR" dirty="0" err="1">
                <a:sym typeface="Wingdings" pitchFamily="2" charset="2"/>
              </a:rPr>
              <a:t>Epios</a:t>
            </a:r>
            <a:r>
              <a:rPr lang="fr-FR" dirty="0">
                <a:sym typeface="Wingdings" pitchFamily="2" charset="2"/>
              </a:rPr>
              <a:t> Cloud</a:t>
            </a:r>
          </a:p>
          <a:p>
            <a:r>
              <a:rPr lang="fr-FR" dirty="0" err="1"/>
              <a:t>Primary</a:t>
            </a:r>
            <a:r>
              <a:rPr lang="fr-FR" dirty="0"/>
              <a:t> </a:t>
            </a:r>
            <a:r>
              <a:rPr lang="fr-FR" dirty="0" err="1"/>
              <a:t>target</a:t>
            </a:r>
            <a:r>
              <a:rPr lang="fr-FR" dirty="0"/>
              <a:t>: </a:t>
            </a:r>
            <a:r>
              <a:rPr lang="fr-FR" dirty="0" err="1"/>
              <a:t>Epilepsy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3"/>
            <a:ext cx="4925118" cy="517360"/>
          </a:xfrm>
        </p:spPr>
        <p:txBody>
          <a:bodyPr>
            <a:normAutofit/>
          </a:bodyPr>
          <a:lstStyle/>
          <a:p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GT Zirkon"/>
              </a:rPr>
              <a:t>Epios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™ (Wyss Center)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ECD1BB8-AA8E-8AAE-167C-BC6D14ADA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573" y="3234214"/>
            <a:ext cx="4798854" cy="181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5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C04D4F0-9F00-D043-B80F-52268AB0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1905" y="2842570"/>
            <a:ext cx="5160645" cy="19105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On patients </a:t>
            </a:r>
            <a:r>
              <a:rPr lang="fr-FR" dirty="0" err="1"/>
              <a:t>requiring</a:t>
            </a:r>
            <a:r>
              <a:rPr lang="fr-FR" dirty="0"/>
              <a:t> </a:t>
            </a:r>
            <a:r>
              <a:rPr lang="fr-FR" dirty="0" err="1"/>
              <a:t>brain</a:t>
            </a:r>
            <a:r>
              <a:rPr lang="fr-FR" dirty="0"/>
              <a:t> </a:t>
            </a:r>
            <a:r>
              <a:rPr lang="fr-FR" dirty="0" err="1"/>
              <a:t>surgery</a:t>
            </a:r>
            <a:r>
              <a:rPr lang="fr-FR" dirty="0"/>
              <a:t>:</a:t>
            </a:r>
          </a:p>
          <a:p>
            <a:r>
              <a:rPr lang="fr-FR" dirty="0"/>
              <a:t>Step1: intra-</a:t>
            </a:r>
            <a:r>
              <a:rPr lang="fr-FR" dirty="0" err="1"/>
              <a:t>operative</a:t>
            </a:r>
            <a:r>
              <a:rPr lang="fr-FR" dirty="0"/>
              <a:t> 10’ </a:t>
            </a:r>
            <a:r>
              <a:rPr lang="fr-FR" dirty="0" err="1"/>
              <a:t>rec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Epios</a:t>
            </a:r>
            <a:r>
              <a:rPr lang="fr-FR" dirty="0"/>
              <a:t> leads</a:t>
            </a:r>
          </a:p>
          <a:p>
            <a:pPr marL="0" indent="0">
              <a:buNone/>
            </a:pPr>
            <a:r>
              <a:rPr lang="fr-FR" dirty="0"/>
              <a:t>On patients </a:t>
            </a:r>
            <a:r>
              <a:rPr lang="fr-FR" dirty="0" err="1"/>
              <a:t>with</a:t>
            </a:r>
            <a:r>
              <a:rPr lang="fr-FR" dirty="0"/>
              <a:t> pharmaco-</a:t>
            </a:r>
            <a:r>
              <a:rPr lang="fr-FR" dirty="0" err="1"/>
              <a:t>resistant</a:t>
            </a:r>
            <a:r>
              <a:rPr lang="fr-FR" dirty="0"/>
              <a:t> </a:t>
            </a:r>
            <a:r>
              <a:rPr lang="fr-FR" dirty="0" err="1"/>
              <a:t>epilepsy</a:t>
            </a:r>
            <a:r>
              <a:rPr lang="fr-FR" dirty="0"/>
              <a:t>:</a:t>
            </a:r>
          </a:p>
          <a:p>
            <a:r>
              <a:rPr lang="fr-FR" dirty="0"/>
              <a:t>Step2: </a:t>
            </a:r>
            <a:r>
              <a:rPr lang="fr-FR" dirty="0" err="1"/>
              <a:t>clinically</a:t>
            </a:r>
            <a:r>
              <a:rPr lang="fr-FR" dirty="0"/>
              <a:t> </a:t>
            </a:r>
            <a:r>
              <a:rPr lang="fr-FR" dirty="0" err="1"/>
              <a:t>iEEG</a:t>
            </a:r>
            <a:r>
              <a:rPr lang="fr-FR" dirty="0"/>
              <a:t> + </a:t>
            </a:r>
            <a:r>
              <a:rPr lang="fr-FR" dirty="0" err="1"/>
              <a:t>Epios</a:t>
            </a:r>
            <a:r>
              <a:rPr lang="fr-FR" dirty="0"/>
              <a:t> </a:t>
            </a:r>
            <a:r>
              <a:rPr lang="fr-FR" dirty="0" err="1"/>
              <a:t>rec</a:t>
            </a:r>
            <a:r>
              <a:rPr lang="fr-FR" dirty="0"/>
              <a:t> in </a:t>
            </a:r>
            <a:r>
              <a:rPr lang="fr-FR" dirty="0" err="1"/>
              <a:t>parallel</a:t>
            </a:r>
            <a:r>
              <a:rPr lang="fr-FR" dirty="0"/>
              <a:t> (&lt;21 </a:t>
            </a:r>
            <a:r>
              <a:rPr lang="fr-FR" dirty="0" err="1"/>
              <a:t>days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>
                <a:sym typeface="Wingdings" pitchFamily="2" charset="2"/>
              </a:rPr>
              <a:t> </a:t>
            </a:r>
            <a:r>
              <a:rPr lang="fr-FR" dirty="0" err="1">
                <a:sym typeface="Wingdings" pitchFamily="2" charset="2"/>
              </a:rPr>
              <a:t>general</a:t>
            </a:r>
            <a:r>
              <a:rPr lang="fr-FR" dirty="0">
                <a:sym typeface="Wingdings" pitchFamily="2" charset="2"/>
              </a:rPr>
              <a:t> </a:t>
            </a:r>
            <a:r>
              <a:rPr lang="fr-FR" dirty="0" err="1">
                <a:sym typeface="Wingdings" pitchFamily="2" charset="2"/>
              </a:rPr>
              <a:t>anesthesia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GT Zirkon"/>
              </a:rPr>
              <a:t>Epios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™ (Wyss Center)</a:t>
            </a:r>
            <a:b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</a:b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A2A4336-434A-0856-2E9B-9AF5687E8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3249359"/>
            <a:ext cx="2907030" cy="1245870"/>
          </a:xfrm>
          <a:prstGeom prst="rect">
            <a:avLst/>
          </a:prstGeom>
        </p:spPr>
      </p:pic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55F8CE9D-B446-F6DF-689B-1B40AD8FD001}"/>
              </a:ext>
            </a:extLst>
          </p:cNvPr>
          <p:cNvSpPr txBox="1">
            <a:spLocks/>
          </p:cNvSpPr>
          <p:nvPr/>
        </p:nvSpPr>
        <p:spPr>
          <a:xfrm>
            <a:off x="904875" y="732635"/>
            <a:ext cx="7726363" cy="2494858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 err="1"/>
              <a:t>Only</a:t>
            </a:r>
            <a:r>
              <a:rPr lang="fr-FR" sz="1400" dirty="0"/>
              <a:t> </a:t>
            </a:r>
            <a:r>
              <a:rPr lang="fr-FR" sz="1400" dirty="0" err="1"/>
              <a:t>recording</a:t>
            </a:r>
            <a:endParaRPr lang="fr-FR" sz="1400" dirty="0"/>
          </a:p>
          <a:p>
            <a:r>
              <a:rPr lang="fr-FR" sz="1400" dirty="0" err="1"/>
              <a:t>Subscalp</a:t>
            </a:r>
            <a:r>
              <a:rPr lang="fr-FR" sz="1400" dirty="0"/>
              <a:t> </a:t>
            </a:r>
            <a:r>
              <a:rPr lang="fr-FR" sz="1400" dirty="0" err="1"/>
              <a:t>sensing</a:t>
            </a:r>
            <a:r>
              <a:rPr lang="fr-FR" sz="1400" dirty="0"/>
              <a:t> </a:t>
            </a:r>
            <a:r>
              <a:rPr lang="fr-FR" sz="1400" dirty="0" err="1"/>
              <a:t>electrodes</a:t>
            </a:r>
            <a:r>
              <a:rPr lang="fr-FR" sz="1400" dirty="0"/>
              <a:t> + miniature implant </a:t>
            </a:r>
            <a:r>
              <a:rPr lang="fr-FR" sz="1400" dirty="0" err="1"/>
              <a:t>beneath</a:t>
            </a:r>
            <a:r>
              <a:rPr lang="fr-FR" sz="1400" dirty="0"/>
              <a:t> the skin </a:t>
            </a:r>
            <a:r>
              <a:rPr lang="fr-FR" sz="1400" dirty="0" err="1"/>
              <a:t>powered</a:t>
            </a:r>
            <a:r>
              <a:rPr lang="fr-FR" sz="1400" dirty="0"/>
              <a:t> by an </a:t>
            </a:r>
            <a:r>
              <a:rPr lang="fr-FR" sz="1400" dirty="0" err="1"/>
              <a:t>external</a:t>
            </a:r>
            <a:r>
              <a:rPr lang="fr-FR" sz="1400" dirty="0"/>
              <a:t> </a:t>
            </a:r>
            <a:r>
              <a:rPr lang="fr-FR" sz="1400" dirty="0" err="1"/>
              <a:t>device</a:t>
            </a:r>
            <a:r>
              <a:rPr lang="fr-FR" sz="1400" dirty="0"/>
              <a:t> (</a:t>
            </a:r>
            <a:r>
              <a:rPr lang="fr-FR" sz="1400" dirty="0" err="1"/>
              <a:t>Epios</a:t>
            </a:r>
            <a:r>
              <a:rPr lang="fr-FR" sz="1400" dirty="0"/>
              <a:t> </a:t>
            </a:r>
            <a:r>
              <a:rPr lang="fr-FR" sz="1400" dirty="0" err="1"/>
              <a:t>Wearable</a:t>
            </a:r>
            <a:r>
              <a:rPr lang="fr-FR" sz="1400" dirty="0"/>
              <a:t>)</a:t>
            </a:r>
          </a:p>
          <a:p>
            <a:r>
              <a:rPr lang="fr-FR" sz="1400" dirty="0"/>
              <a:t>EW </a:t>
            </a:r>
            <a:r>
              <a:rPr lang="fr-FR" sz="1400" dirty="0" err="1"/>
              <a:t>held</a:t>
            </a:r>
            <a:r>
              <a:rPr lang="fr-FR" sz="1400" dirty="0"/>
              <a:t> in place on the skin over the implant </a:t>
            </a:r>
            <a:r>
              <a:rPr lang="fr-FR" sz="1400" dirty="0" err="1"/>
              <a:t>with</a:t>
            </a:r>
            <a:r>
              <a:rPr lang="fr-FR" sz="1400" dirty="0"/>
              <a:t> a magnet </a:t>
            </a:r>
            <a:r>
              <a:rPr lang="fr-FR" sz="1400" dirty="0">
                <a:sym typeface="Wingdings" pitchFamily="2" charset="2"/>
              </a:rPr>
              <a:t></a:t>
            </a:r>
            <a:r>
              <a:rPr lang="fr-FR" sz="1400" dirty="0"/>
              <a:t> </a:t>
            </a:r>
            <a:r>
              <a:rPr lang="fr-FR" sz="1400" dirty="0" err="1"/>
              <a:t>external</a:t>
            </a:r>
            <a:r>
              <a:rPr lang="fr-FR" sz="1400" dirty="0"/>
              <a:t> </a:t>
            </a:r>
            <a:r>
              <a:rPr lang="fr-FR" sz="1400" dirty="0" err="1"/>
              <a:t>receiver</a:t>
            </a:r>
            <a:r>
              <a:rPr lang="fr-FR" sz="1400" dirty="0"/>
              <a:t> and data processor </a:t>
            </a:r>
          </a:p>
          <a:p>
            <a:pPr lvl="1"/>
            <a:r>
              <a:rPr lang="fr-FR" sz="1200" dirty="0"/>
              <a:t>Wireless transmission of neural </a:t>
            </a:r>
            <a:r>
              <a:rPr lang="fr-FR" sz="1200" dirty="0" err="1"/>
              <a:t>signals</a:t>
            </a:r>
            <a:r>
              <a:rPr lang="fr-FR" sz="1200" dirty="0"/>
              <a:t> to the </a:t>
            </a:r>
            <a:r>
              <a:rPr lang="fr-FR" sz="1200" dirty="0" err="1"/>
              <a:t>receiver</a:t>
            </a:r>
            <a:r>
              <a:rPr lang="fr-FR" sz="1200" dirty="0"/>
              <a:t> </a:t>
            </a:r>
            <a:r>
              <a:rPr lang="fr-FR" sz="1200" dirty="0">
                <a:sym typeface="Wingdings" pitchFamily="2" charset="2"/>
              </a:rPr>
              <a:t> </a:t>
            </a:r>
            <a:r>
              <a:rPr lang="fr-FR" sz="1200" dirty="0" err="1">
                <a:sym typeface="Wingdings" pitchFamily="2" charset="2"/>
              </a:rPr>
              <a:t>conveyed</a:t>
            </a:r>
            <a:r>
              <a:rPr lang="fr-FR" sz="1200" dirty="0">
                <a:sym typeface="Wingdings" pitchFamily="2" charset="2"/>
              </a:rPr>
              <a:t> to data processor  </a:t>
            </a:r>
            <a:r>
              <a:rPr lang="fr-FR" sz="1200" dirty="0" err="1">
                <a:sym typeface="Wingdings" pitchFamily="2" charset="2"/>
              </a:rPr>
              <a:t>stored</a:t>
            </a:r>
            <a:r>
              <a:rPr lang="fr-FR" sz="1200" dirty="0">
                <a:sym typeface="Wingdings" pitchFamily="2" charset="2"/>
              </a:rPr>
              <a:t> in the </a:t>
            </a:r>
            <a:r>
              <a:rPr lang="fr-FR" sz="1200" dirty="0" err="1">
                <a:sym typeface="Wingdings" pitchFamily="2" charset="2"/>
              </a:rPr>
              <a:t>Epios</a:t>
            </a:r>
            <a:r>
              <a:rPr lang="fr-FR" sz="1200" dirty="0">
                <a:sym typeface="Wingdings" pitchFamily="2" charset="2"/>
              </a:rPr>
              <a:t> Cloud</a:t>
            </a:r>
          </a:p>
          <a:p>
            <a:r>
              <a:rPr lang="fr-FR" sz="1400" dirty="0" err="1"/>
              <a:t>Primary</a:t>
            </a:r>
            <a:r>
              <a:rPr lang="fr-FR" sz="1400" dirty="0"/>
              <a:t> </a:t>
            </a:r>
            <a:r>
              <a:rPr lang="fr-FR" sz="1400" dirty="0" err="1"/>
              <a:t>target</a:t>
            </a:r>
            <a:r>
              <a:rPr lang="fr-FR" sz="1400" dirty="0"/>
              <a:t>: </a:t>
            </a:r>
            <a:r>
              <a:rPr lang="fr-FR" sz="1400" dirty="0" err="1"/>
              <a:t>epilepsy</a:t>
            </a:r>
            <a:endParaRPr lang="fr-FR" sz="14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2FFFD6E-EE4C-8AF7-67AD-DAE0AA319AD2}"/>
              </a:ext>
            </a:extLst>
          </p:cNvPr>
          <p:cNvSpPr txBox="1"/>
          <p:nvPr/>
        </p:nvSpPr>
        <p:spPr>
          <a:xfrm>
            <a:off x="5272088" y="4866278"/>
            <a:ext cx="38947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100" i="1" dirty="0"/>
              <a:t>https://</a:t>
            </a:r>
            <a:r>
              <a:rPr lang="it-IT" sz="1100" i="1" dirty="0" err="1"/>
              <a:t>www.clinicaltrials.gov</a:t>
            </a:r>
            <a:r>
              <a:rPr lang="it-IT" sz="1100" i="1" dirty="0"/>
              <a:t>/study/NCT04796597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07D788C-C7B0-849F-EFB0-DBB210C76CD4}"/>
              </a:ext>
            </a:extLst>
          </p:cNvPr>
          <p:cNvSpPr/>
          <p:nvPr/>
        </p:nvSpPr>
        <p:spPr>
          <a:xfrm>
            <a:off x="1008856" y="632481"/>
            <a:ext cx="7878763" cy="214397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FBBA043-9DB8-D9AE-8798-157B03FC4A96}"/>
              </a:ext>
            </a:extLst>
          </p:cNvPr>
          <p:cNvSpPr txBox="1"/>
          <p:nvPr/>
        </p:nvSpPr>
        <p:spPr>
          <a:xfrm>
            <a:off x="1231106" y="4603035"/>
            <a:ext cx="22545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kkuratStd"/>
              </a:rPr>
              <a:t>University Hospital of Bern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144857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5335905" cy="1072753"/>
          </a:xfrm>
        </p:spPr>
        <p:txBody>
          <a:bodyPr>
            <a:normAutofit/>
          </a:bodyPr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EASEE® (Precisis, </a:t>
            </a:r>
            <a:r>
              <a:rPr lang="fr-CH" b="0" i="0" dirty="0">
                <a:solidFill>
                  <a:srgbClr val="000000"/>
                </a:solidFill>
                <a:effectLst/>
                <a:latin typeface="RegisteredSign"/>
              </a:rPr>
              <a:t>Heidelberg)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 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3" name="Espace réservé du contenu 1">
            <a:extLst>
              <a:ext uri="{FF2B5EF4-FFF2-40B4-BE49-F238E27FC236}">
                <a16:creationId xmlns:a16="http://schemas.microsoft.com/office/drawing/2014/main" id="{039ADC54-CB4D-8044-DF63-60A880BE7832}"/>
              </a:ext>
            </a:extLst>
          </p:cNvPr>
          <p:cNvSpPr txBox="1">
            <a:spLocks/>
          </p:cNvSpPr>
          <p:nvPr/>
        </p:nvSpPr>
        <p:spPr>
          <a:xfrm>
            <a:off x="904875" y="739356"/>
            <a:ext cx="6188075" cy="2494858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Recording</a:t>
            </a:r>
            <a:r>
              <a:rPr lang="fr-FR" dirty="0"/>
              <a:t> (</a:t>
            </a:r>
            <a:r>
              <a:rPr lang="fr-FR" dirty="0" err="1"/>
              <a:t>unilateral</a:t>
            </a:r>
            <a:r>
              <a:rPr lang="fr-FR" dirty="0"/>
              <a:t>) and stimulation</a:t>
            </a:r>
          </a:p>
          <a:p>
            <a:r>
              <a:rPr lang="fr-FR" dirty="0"/>
              <a:t>Target: </a:t>
            </a:r>
            <a:r>
              <a:rPr lang="fr-FR" dirty="0" err="1"/>
              <a:t>Epilepsy</a:t>
            </a:r>
            <a:endParaRPr lang="fr-FR" dirty="0"/>
          </a:p>
          <a:p>
            <a:r>
              <a:rPr lang="fr-FR" dirty="0"/>
              <a:t>Electrode </a:t>
            </a:r>
            <a:r>
              <a:rPr lang="fr-FR" dirty="0" err="1"/>
              <a:t>array</a:t>
            </a:r>
            <a:r>
              <a:rPr lang="fr-FR" dirty="0"/>
              <a:t> </a:t>
            </a:r>
          </a:p>
          <a:p>
            <a:r>
              <a:rPr lang="fr-FR" dirty="0"/>
              <a:t>Electrode </a:t>
            </a:r>
            <a:r>
              <a:rPr lang="fr-FR" dirty="0" err="1"/>
              <a:t>cable</a:t>
            </a:r>
            <a:r>
              <a:rPr lang="fr-FR" dirty="0"/>
              <a:t> </a:t>
            </a:r>
            <a:r>
              <a:rPr lang="fr-FR" dirty="0" err="1"/>
              <a:t>tunneled</a:t>
            </a:r>
            <a:r>
              <a:rPr lang="fr-FR" dirty="0"/>
              <a:t> to the </a:t>
            </a:r>
            <a:r>
              <a:rPr lang="fr-FR" dirty="0" err="1"/>
              <a:t>chest</a:t>
            </a:r>
            <a:r>
              <a:rPr lang="fr-FR" dirty="0"/>
              <a:t> area and </a:t>
            </a:r>
            <a:r>
              <a:rPr lang="fr-FR" dirty="0" err="1"/>
              <a:t>connected</a:t>
            </a:r>
            <a:r>
              <a:rPr lang="fr-FR" dirty="0"/>
              <a:t> to the IPG (</a:t>
            </a:r>
            <a:r>
              <a:rPr lang="fr-FR" dirty="0" err="1"/>
              <a:t>subcutaneously</a:t>
            </a:r>
            <a:r>
              <a:rPr lang="fr-FR" dirty="0"/>
              <a:t> </a:t>
            </a:r>
            <a:r>
              <a:rPr lang="fr-FR" dirty="0" err="1"/>
              <a:t>implanted</a:t>
            </a:r>
            <a:r>
              <a:rPr lang="fr-FR" dirty="0"/>
              <a:t>, </a:t>
            </a:r>
            <a:r>
              <a:rPr lang="fr-FR" dirty="0" err="1"/>
              <a:t>general</a:t>
            </a:r>
            <a:r>
              <a:rPr lang="fr-FR" dirty="0"/>
              <a:t> </a:t>
            </a:r>
            <a:r>
              <a:rPr lang="fr-FR" dirty="0" err="1"/>
              <a:t>anesthesia</a:t>
            </a:r>
            <a:r>
              <a:rPr lang="fr-FR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F51A13-7CA3-433B-81A7-6CAE8C200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750" y="1428952"/>
            <a:ext cx="1515541" cy="1629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FF018E-719F-49F1-BB22-60E52E34C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381" y="71495"/>
            <a:ext cx="990336" cy="156368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F66483-1C25-42EC-AAA6-B626CA1704A9}"/>
              </a:ext>
            </a:extLst>
          </p:cNvPr>
          <p:cNvCxnSpPr>
            <a:cxnSpLocks/>
          </p:cNvCxnSpPr>
          <p:nvPr/>
        </p:nvCxnSpPr>
        <p:spPr>
          <a:xfrm>
            <a:off x="7092950" y="1494853"/>
            <a:ext cx="923925" cy="0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57E9BE-0C77-40CE-8C45-901BC78C904E}"/>
              </a:ext>
            </a:extLst>
          </p:cNvPr>
          <p:cNvSpPr txBox="1"/>
          <p:nvPr/>
        </p:nvSpPr>
        <p:spPr>
          <a:xfrm>
            <a:off x="7528494" y="1263606"/>
            <a:ext cx="646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b="1" dirty="0"/>
              <a:t>5 cm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849D50-C996-4970-A474-3A57AB557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293" y="3546338"/>
            <a:ext cx="5089525" cy="135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1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5335905" cy="1072753"/>
          </a:xfrm>
        </p:spPr>
        <p:txBody>
          <a:bodyPr>
            <a:normAutofit/>
          </a:bodyPr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EASEE® (Precisis, </a:t>
            </a:r>
            <a:r>
              <a:rPr lang="fr-CH" b="0" i="0" dirty="0">
                <a:solidFill>
                  <a:srgbClr val="000000"/>
                </a:solidFill>
                <a:effectLst/>
                <a:latin typeface="RegisteredSign"/>
              </a:rPr>
              <a:t>Heidelberg)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 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13" name="Espace réservé du contenu 1">
            <a:extLst>
              <a:ext uri="{FF2B5EF4-FFF2-40B4-BE49-F238E27FC236}">
                <a16:creationId xmlns:a16="http://schemas.microsoft.com/office/drawing/2014/main" id="{039ADC54-CB4D-8044-DF63-60A880BE7832}"/>
              </a:ext>
            </a:extLst>
          </p:cNvPr>
          <p:cNvSpPr txBox="1">
            <a:spLocks/>
          </p:cNvSpPr>
          <p:nvPr/>
        </p:nvSpPr>
        <p:spPr>
          <a:xfrm>
            <a:off x="904875" y="739356"/>
            <a:ext cx="6188075" cy="2494858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350" dirty="0"/>
              <a:t>Target: </a:t>
            </a:r>
            <a:r>
              <a:rPr lang="fr-FR" sz="1350" dirty="0" err="1"/>
              <a:t>Epilepsy</a:t>
            </a:r>
            <a:endParaRPr lang="fr-FR" sz="1350" dirty="0"/>
          </a:p>
          <a:p>
            <a:r>
              <a:rPr lang="fr-FR" sz="1350" dirty="0"/>
              <a:t>Electrode </a:t>
            </a:r>
            <a:r>
              <a:rPr lang="fr-FR" sz="1350" dirty="0" err="1"/>
              <a:t>array</a:t>
            </a:r>
            <a:r>
              <a:rPr lang="fr-FR" sz="1350" dirty="0"/>
              <a:t> </a:t>
            </a:r>
          </a:p>
          <a:p>
            <a:r>
              <a:rPr lang="fr-FR" sz="1350" dirty="0"/>
              <a:t>Electrode </a:t>
            </a:r>
            <a:r>
              <a:rPr lang="fr-FR" sz="1350" dirty="0" err="1"/>
              <a:t>cable</a:t>
            </a:r>
            <a:r>
              <a:rPr lang="fr-FR" sz="1350" dirty="0"/>
              <a:t> </a:t>
            </a:r>
            <a:r>
              <a:rPr lang="fr-FR" sz="1350" dirty="0" err="1"/>
              <a:t>tunneled</a:t>
            </a:r>
            <a:r>
              <a:rPr lang="fr-FR" sz="1350" dirty="0"/>
              <a:t> to the </a:t>
            </a:r>
            <a:r>
              <a:rPr lang="fr-FR" sz="1350" dirty="0" err="1"/>
              <a:t>chest</a:t>
            </a:r>
            <a:r>
              <a:rPr lang="fr-FR" sz="1350" dirty="0"/>
              <a:t> area and </a:t>
            </a:r>
            <a:r>
              <a:rPr lang="fr-FR" sz="1350" dirty="0" err="1"/>
              <a:t>connected</a:t>
            </a:r>
            <a:r>
              <a:rPr lang="fr-FR" sz="1350" dirty="0"/>
              <a:t> to the IPG (</a:t>
            </a:r>
            <a:r>
              <a:rPr lang="fr-FR" sz="1350" dirty="0" err="1"/>
              <a:t>subcutaneously</a:t>
            </a:r>
            <a:r>
              <a:rPr lang="fr-FR" sz="1350" dirty="0"/>
              <a:t> </a:t>
            </a:r>
            <a:r>
              <a:rPr lang="fr-FR" sz="1350" dirty="0" err="1"/>
              <a:t>implanted</a:t>
            </a:r>
            <a:r>
              <a:rPr lang="fr-FR" sz="1350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6B154D-535C-4B56-9621-78C8B9A1F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87" y="2465794"/>
            <a:ext cx="5463044" cy="1557597"/>
          </a:xfrm>
          <a:prstGeom prst="rect">
            <a:avLst/>
          </a:prstGeom>
        </p:spPr>
      </p:pic>
      <p:sp>
        <p:nvSpPr>
          <p:cNvPr id="14" name="Rettangolo 11">
            <a:extLst>
              <a:ext uri="{FF2B5EF4-FFF2-40B4-BE49-F238E27FC236}">
                <a16:creationId xmlns:a16="http://schemas.microsoft.com/office/drawing/2014/main" id="{1A4B5D13-B399-4343-8104-8597EF746DC9}"/>
              </a:ext>
            </a:extLst>
          </p:cNvPr>
          <p:cNvSpPr/>
          <p:nvPr/>
        </p:nvSpPr>
        <p:spPr>
          <a:xfrm>
            <a:off x="735976" y="621591"/>
            <a:ext cx="5901211" cy="1250056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D870E8-D7AF-476B-85F6-353AD2294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833" y="2630668"/>
            <a:ext cx="2253156" cy="15827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63532C-F336-49C0-9E98-4DCF941548C4}"/>
              </a:ext>
            </a:extLst>
          </p:cNvPr>
          <p:cNvSpPr txBox="1"/>
          <p:nvPr/>
        </p:nvSpPr>
        <p:spPr>
          <a:xfrm>
            <a:off x="7381972" y="2405840"/>
            <a:ext cx="14746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 err="1"/>
              <a:t>Responder</a:t>
            </a:r>
            <a:r>
              <a:rPr lang="fr-CH" b="1" dirty="0"/>
              <a:t> rate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0E3123-BF57-451D-8A28-11FA7D376266}"/>
              </a:ext>
            </a:extLst>
          </p:cNvPr>
          <p:cNvSpPr txBox="1"/>
          <p:nvPr/>
        </p:nvSpPr>
        <p:spPr>
          <a:xfrm>
            <a:off x="4580420" y="4881255"/>
            <a:ext cx="4576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CH" sz="1100" i="1" dirty="0"/>
              <a:t>https://easee.precisis.de/en/health-care-professionals/effects/</a:t>
            </a:r>
          </a:p>
        </p:txBody>
      </p:sp>
    </p:spTree>
    <p:extLst>
      <p:ext uri="{BB962C8B-B14F-4D97-AF65-F5344CB8AC3E}">
        <p14:creationId xmlns:p14="http://schemas.microsoft.com/office/powerpoint/2010/main" val="350914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5335905" cy="1072753"/>
          </a:xfrm>
        </p:spPr>
        <p:txBody>
          <a:bodyPr>
            <a:normAutofit/>
          </a:bodyPr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EASEE® (Precisis, </a:t>
            </a:r>
            <a:r>
              <a:rPr lang="fr-CH" b="0" i="0" dirty="0">
                <a:solidFill>
                  <a:srgbClr val="000000"/>
                </a:solidFill>
                <a:effectLst/>
                <a:latin typeface="RegisteredSign"/>
              </a:rPr>
              <a:t>Heidelberg)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 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13" name="Espace réservé du contenu 1">
            <a:extLst>
              <a:ext uri="{FF2B5EF4-FFF2-40B4-BE49-F238E27FC236}">
                <a16:creationId xmlns:a16="http://schemas.microsoft.com/office/drawing/2014/main" id="{039ADC54-CB4D-8044-DF63-60A880BE7832}"/>
              </a:ext>
            </a:extLst>
          </p:cNvPr>
          <p:cNvSpPr txBox="1">
            <a:spLocks/>
          </p:cNvSpPr>
          <p:nvPr/>
        </p:nvSpPr>
        <p:spPr>
          <a:xfrm>
            <a:off x="697251" y="1665069"/>
            <a:ext cx="3667442" cy="738924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HF pulses for </a:t>
            </a:r>
            <a:r>
              <a:rPr lang="fr-FR" dirty="0" err="1"/>
              <a:t>interrupting</a:t>
            </a:r>
            <a:r>
              <a:rPr lang="fr-FR" dirty="0"/>
              <a:t> </a:t>
            </a:r>
            <a:r>
              <a:rPr lang="fr-FR" dirty="0" err="1"/>
              <a:t>emerging</a:t>
            </a:r>
            <a:r>
              <a:rPr lang="fr-FR" dirty="0"/>
              <a:t> </a:t>
            </a:r>
            <a:r>
              <a:rPr lang="fr-FR" dirty="0" err="1"/>
              <a:t>seizures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D14B9-A962-42D8-B706-4C5061A56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82" y="2393377"/>
            <a:ext cx="2849028" cy="11352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697311-E536-467C-8FBD-75CBAB92C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833" y="2394268"/>
            <a:ext cx="2959853" cy="1292394"/>
          </a:xfrm>
          <a:prstGeom prst="rect">
            <a:avLst/>
          </a:prstGeom>
        </p:spPr>
      </p:pic>
      <p:sp>
        <p:nvSpPr>
          <p:cNvPr id="16" name="Espace réservé du contenu 1">
            <a:extLst>
              <a:ext uri="{FF2B5EF4-FFF2-40B4-BE49-F238E27FC236}">
                <a16:creationId xmlns:a16="http://schemas.microsoft.com/office/drawing/2014/main" id="{0125F9ED-9EA9-49BD-AB5A-85E3FAEE7850}"/>
              </a:ext>
            </a:extLst>
          </p:cNvPr>
          <p:cNvSpPr txBox="1">
            <a:spLocks/>
          </p:cNvSpPr>
          <p:nvPr/>
        </p:nvSpPr>
        <p:spPr>
          <a:xfrm>
            <a:off x="4622969" y="1665069"/>
            <a:ext cx="3749993" cy="939887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DC-like </a:t>
            </a:r>
            <a:r>
              <a:rPr lang="fr-FR" dirty="0" err="1"/>
              <a:t>cathodal</a:t>
            </a:r>
            <a:r>
              <a:rPr lang="fr-FR" dirty="0"/>
              <a:t> pulses to </a:t>
            </a:r>
            <a:r>
              <a:rPr lang="fr-FR" dirty="0" err="1"/>
              <a:t>reduce</a:t>
            </a:r>
            <a:r>
              <a:rPr lang="fr-FR" dirty="0"/>
              <a:t> </a:t>
            </a:r>
            <a:r>
              <a:rPr lang="fr-FR" dirty="0" err="1"/>
              <a:t>brain</a:t>
            </a:r>
            <a:r>
              <a:rPr lang="fr-FR" dirty="0"/>
              <a:t> </a:t>
            </a:r>
            <a:r>
              <a:rPr lang="fr-FR" dirty="0" err="1"/>
              <a:t>hyperexcitability</a:t>
            </a:r>
            <a:r>
              <a:rPr lang="fr-FR" dirty="0"/>
              <a:t> (LTD)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83A095F-6A4B-4678-B991-6B1304AEE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676" y="3686662"/>
            <a:ext cx="2649102" cy="10015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277618-937C-46E2-950F-D5217B84F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6050" y="3686662"/>
            <a:ext cx="2677417" cy="1005840"/>
          </a:xfrm>
          <a:prstGeom prst="rect">
            <a:avLst/>
          </a:prstGeom>
        </p:spPr>
      </p:pic>
      <p:sp>
        <p:nvSpPr>
          <p:cNvPr id="21" name="Espace réservé du contenu 1">
            <a:extLst>
              <a:ext uri="{FF2B5EF4-FFF2-40B4-BE49-F238E27FC236}">
                <a16:creationId xmlns:a16="http://schemas.microsoft.com/office/drawing/2014/main" id="{F62710CD-A60E-48A6-9C43-7F88CD6D1AD6}"/>
              </a:ext>
            </a:extLst>
          </p:cNvPr>
          <p:cNvSpPr txBox="1">
            <a:spLocks/>
          </p:cNvSpPr>
          <p:nvPr/>
        </p:nvSpPr>
        <p:spPr>
          <a:xfrm>
            <a:off x="904875" y="739356"/>
            <a:ext cx="6188075" cy="2494858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stimulation patterns </a:t>
            </a:r>
          </a:p>
        </p:txBody>
      </p:sp>
    </p:spTree>
    <p:extLst>
      <p:ext uri="{BB962C8B-B14F-4D97-AF65-F5344CB8AC3E}">
        <p14:creationId xmlns:p14="http://schemas.microsoft.com/office/powerpoint/2010/main" val="114850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5335905" cy="1072753"/>
          </a:xfrm>
        </p:spPr>
        <p:txBody>
          <a:bodyPr>
            <a:normAutofit/>
          </a:bodyPr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EASEE® (Precisis, </a:t>
            </a:r>
            <a:r>
              <a:rPr lang="fr-CH" b="0" i="0" dirty="0">
                <a:solidFill>
                  <a:srgbClr val="000000"/>
                </a:solidFill>
                <a:effectLst/>
                <a:latin typeface="RegisteredSign"/>
              </a:rPr>
              <a:t>Heidelberg)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GT Zirkon"/>
              </a:rPr>
              <a:t> 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21" name="Espace réservé du contenu 1">
            <a:extLst>
              <a:ext uri="{FF2B5EF4-FFF2-40B4-BE49-F238E27FC236}">
                <a16:creationId xmlns:a16="http://schemas.microsoft.com/office/drawing/2014/main" id="{F62710CD-A60E-48A6-9C43-7F88CD6D1AD6}"/>
              </a:ext>
            </a:extLst>
          </p:cNvPr>
          <p:cNvSpPr txBox="1">
            <a:spLocks/>
          </p:cNvSpPr>
          <p:nvPr/>
        </p:nvSpPr>
        <p:spPr>
          <a:xfrm>
            <a:off x="904875" y="739356"/>
            <a:ext cx="7150821" cy="2494858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impedance</a:t>
            </a:r>
            <a:r>
              <a:rPr lang="fr-FR" dirty="0"/>
              <a:t> for </a:t>
            </a:r>
            <a:r>
              <a:rPr lang="fr-FR" dirty="0" err="1"/>
              <a:t>outer</a:t>
            </a:r>
            <a:r>
              <a:rPr lang="fr-FR" dirty="0"/>
              <a:t> contacts: 3713 </a:t>
            </a:r>
            <a:r>
              <a:rPr lang="el-GR" dirty="0"/>
              <a:t>Ω</a:t>
            </a:r>
            <a:r>
              <a:rPr lang="en-US" dirty="0"/>
              <a:t> (data from 4 patients) </a:t>
            </a:r>
          </a:p>
          <a:p>
            <a:pPr lvl="1"/>
            <a:r>
              <a:rPr lang="en-US" dirty="0"/>
              <a:t>Min 1475 </a:t>
            </a:r>
            <a:r>
              <a:rPr lang="el-GR" dirty="0"/>
              <a:t>Ω</a:t>
            </a:r>
            <a:endParaRPr lang="en-US" dirty="0"/>
          </a:p>
          <a:p>
            <a:pPr lvl="1"/>
            <a:r>
              <a:rPr lang="en-US" dirty="0"/>
              <a:t>Max 7852 </a:t>
            </a:r>
            <a:r>
              <a:rPr lang="el-GR" dirty="0"/>
              <a:t>Ω</a:t>
            </a:r>
            <a:endParaRPr lang="en-US" dirty="0"/>
          </a:p>
          <a:p>
            <a:pPr lvl="1"/>
            <a:r>
              <a:rPr lang="en-US" dirty="0"/>
              <a:t>Intra-patient variation: between 371 </a:t>
            </a:r>
            <a:r>
              <a:rPr lang="el-GR" dirty="0"/>
              <a:t>Ω</a:t>
            </a:r>
            <a:r>
              <a:rPr lang="en-US" dirty="0"/>
              <a:t> and 1894 </a:t>
            </a:r>
            <a:r>
              <a:rPr lang="el-GR" dirty="0"/>
              <a:t>Ω</a:t>
            </a:r>
            <a:endParaRPr lang="en-US" dirty="0"/>
          </a:p>
          <a:p>
            <a:pPr lvl="1"/>
            <a:endParaRPr lang="fr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F44DD-55C4-4537-B8EF-84B0CF9D1857}"/>
              </a:ext>
            </a:extLst>
          </p:cNvPr>
          <p:cNvSpPr txBox="1"/>
          <p:nvPr/>
        </p:nvSpPr>
        <p:spPr>
          <a:xfrm>
            <a:off x="4768345" y="4897279"/>
            <a:ext cx="4375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000" i="1" dirty="0"/>
              <a:t>https://www.sciencedirect.com/science/article/pii/S0165027021002302</a:t>
            </a:r>
          </a:p>
        </p:txBody>
      </p:sp>
    </p:spTree>
    <p:extLst>
      <p:ext uri="{BB962C8B-B14F-4D97-AF65-F5344CB8AC3E}">
        <p14:creationId xmlns:p14="http://schemas.microsoft.com/office/powerpoint/2010/main" val="370856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C04D4F0-9F00-D043-B80F-52268AB0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6" y="739356"/>
            <a:ext cx="5395308" cy="2494858"/>
          </a:xfrm>
        </p:spPr>
        <p:txBody>
          <a:bodyPr/>
          <a:lstStyle/>
          <a:p>
            <a:r>
              <a:rPr lang="fr-FR" dirty="0" err="1"/>
              <a:t>Recording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(Long-</a:t>
            </a:r>
            <a:r>
              <a:rPr lang="fr-FR" dirty="0" err="1"/>
              <a:t>term</a:t>
            </a:r>
            <a:r>
              <a:rPr lang="fr-FR" dirty="0"/>
              <a:t> EEG, </a:t>
            </a:r>
            <a:r>
              <a:rPr lang="fr-FR" dirty="0" err="1"/>
              <a:t>bilateral</a:t>
            </a:r>
            <a:r>
              <a:rPr lang="fr-FR" dirty="0"/>
              <a:t>)</a:t>
            </a:r>
          </a:p>
          <a:p>
            <a:r>
              <a:rPr lang="fr-FR" dirty="0"/>
              <a:t>Target: </a:t>
            </a:r>
            <a:r>
              <a:rPr lang="fr-FR" dirty="0" err="1"/>
              <a:t>Epilepsy</a:t>
            </a:r>
            <a:endParaRPr lang="fr-FR" dirty="0"/>
          </a:p>
          <a:p>
            <a:r>
              <a:rPr lang="fr-FR" dirty="0" err="1"/>
              <a:t>Subscalp</a:t>
            </a:r>
            <a:r>
              <a:rPr lang="fr-FR" dirty="0"/>
              <a:t> lead (4 </a:t>
            </a:r>
            <a:r>
              <a:rPr lang="fr-FR" dirty="0" err="1"/>
              <a:t>electrodes</a:t>
            </a:r>
            <a:r>
              <a:rPr lang="fr-FR" dirty="0"/>
              <a:t>) </a:t>
            </a:r>
            <a:r>
              <a:rPr lang="fr-FR" dirty="0" err="1"/>
              <a:t>connected</a:t>
            </a:r>
            <a:r>
              <a:rPr lang="fr-FR" dirty="0"/>
              <a:t> to the implant</a:t>
            </a:r>
          </a:p>
          <a:p>
            <a:r>
              <a:rPr lang="fr-FR" dirty="0" err="1"/>
              <a:t>Coil</a:t>
            </a:r>
            <a:r>
              <a:rPr lang="fr-FR" dirty="0"/>
              <a:t> for data and power </a:t>
            </a:r>
            <a:r>
              <a:rPr lang="fr-FR" dirty="0" err="1"/>
              <a:t>transfer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implant and </a:t>
            </a:r>
            <a:r>
              <a:rPr lang="fr-FR" dirty="0" err="1"/>
              <a:t>external</a:t>
            </a:r>
            <a:r>
              <a:rPr lang="fr-FR" dirty="0"/>
              <a:t> </a:t>
            </a:r>
            <a:r>
              <a:rPr lang="fr-FR" dirty="0" err="1"/>
              <a:t>wearable</a:t>
            </a:r>
            <a:r>
              <a:rPr lang="fr-FR" dirty="0"/>
              <a:t> processor</a:t>
            </a:r>
          </a:p>
          <a:p>
            <a:r>
              <a:rPr lang="fr-FR" dirty="0" err="1"/>
              <a:t>External</a:t>
            </a:r>
            <a:r>
              <a:rPr lang="fr-FR" dirty="0"/>
              <a:t> </a:t>
            </a:r>
            <a:r>
              <a:rPr lang="fr-FR" dirty="0" err="1"/>
              <a:t>wearable</a:t>
            </a:r>
            <a:r>
              <a:rPr lang="fr-FR" dirty="0"/>
              <a:t> processor to transmit data via </a:t>
            </a:r>
            <a:r>
              <a:rPr lang="fr-FR" dirty="0" err="1"/>
              <a:t>bluetooth</a:t>
            </a:r>
            <a:r>
              <a:rPr lang="fr-FR" dirty="0"/>
              <a:t> to smartphone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3"/>
            <a:ext cx="7515225" cy="608324"/>
          </a:xfrm>
        </p:spPr>
        <p:txBody>
          <a:bodyPr>
            <a:normAutofit/>
          </a:bodyPr>
          <a:lstStyle/>
          <a:p>
            <a:pPr algn="l" fontAlgn="base"/>
            <a:r>
              <a:rPr lang="fr-CH" b="0" i="0" dirty="0" err="1">
                <a:solidFill>
                  <a:srgbClr val="0F1120"/>
                </a:solidFill>
                <a:effectLst/>
                <a:latin typeface="Encode Sans"/>
              </a:rPr>
              <a:t>Minder</a:t>
            </a:r>
            <a:r>
              <a:rPr lang="fr-CH" b="0" i="0" dirty="0">
                <a:solidFill>
                  <a:srgbClr val="0F1120"/>
                </a:solidFill>
                <a:effectLst/>
                <a:latin typeface="Encode Sans"/>
              </a:rPr>
              <a:t>® system (</a:t>
            </a:r>
            <a:r>
              <a:rPr lang="fr-CH" b="0" i="0" dirty="0" err="1">
                <a:solidFill>
                  <a:srgbClr val="0F1120"/>
                </a:solidFill>
                <a:effectLst/>
                <a:latin typeface="Encode Sans"/>
              </a:rPr>
              <a:t>epiminder</a:t>
            </a:r>
            <a:r>
              <a:rPr lang="fr-CH" b="0" i="0" dirty="0">
                <a:solidFill>
                  <a:srgbClr val="0F1120"/>
                </a:solidFill>
                <a:effectLst/>
                <a:latin typeface="Encode Sans"/>
              </a:rPr>
              <a:t>, </a:t>
            </a:r>
            <a:r>
              <a:rPr lang="fr-CH" b="0" i="0" dirty="0" err="1">
                <a:solidFill>
                  <a:srgbClr val="0F1120"/>
                </a:solidFill>
                <a:effectLst/>
                <a:latin typeface="Encode Sans"/>
              </a:rPr>
              <a:t>Australia</a:t>
            </a:r>
            <a:r>
              <a:rPr lang="fr-CH" b="0" i="0" dirty="0">
                <a:solidFill>
                  <a:srgbClr val="0F1120"/>
                </a:solidFill>
                <a:effectLst/>
                <a:latin typeface="Encode Sans"/>
              </a:rPr>
              <a:t>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</a:t>
            </a:fld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6EC3D6-0253-4012-AA0E-F355A41BF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517" y="2348598"/>
            <a:ext cx="2650747" cy="19242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E7C77E-5A5E-45FA-820C-09A72873E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962" y="902909"/>
            <a:ext cx="2629858" cy="14113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BFC156-C9BD-4E86-A7E6-14B3E361F0AB}"/>
              </a:ext>
            </a:extLst>
          </p:cNvPr>
          <p:cNvSpPr txBox="1"/>
          <p:nvPr/>
        </p:nvSpPr>
        <p:spPr>
          <a:xfrm>
            <a:off x="4567238" y="4904740"/>
            <a:ext cx="4576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r">
              <a:defRPr sz="1100" i="1"/>
            </a:lvl1pPr>
          </a:lstStyle>
          <a:p>
            <a:r>
              <a:rPr lang="fr-CH" dirty="0"/>
              <a:t>https://epiminder.com/the-minder-system/</a:t>
            </a:r>
          </a:p>
        </p:txBody>
      </p:sp>
    </p:spTree>
    <p:extLst>
      <p:ext uri="{BB962C8B-B14F-4D97-AF65-F5344CB8AC3E}">
        <p14:creationId xmlns:p14="http://schemas.microsoft.com/office/powerpoint/2010/main" val="2442605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DA1CFAA-1EA6-4CD6-8854-C5A41E4B9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721" y="637430"/>
            <a:ext cx="3160395" cy="1285788"/>
          </a:xfrm>
          <a:prstGeom prst="rect">
            <a:avLst/>
          </a:prstGeom>
        </p:spPr>
      </p:pic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C04D4F0-9F00-D043-B80F-52268AB0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6" y="739355"/>
            <a:ext cx="5395308" cy="2833381"/>
          </a:xfrm>
        </p:spPr>
        <p:txBody>
          <a:bodyPr>
            <a:normAutofit lnSpcReduction="10000"/>
          </a:bodyPr>
          <a:lstStyle/>
          <a:p>
            <a:r>
              <a:rPr lang="fr-FR" dirty="0"/>
              <a:t>CE </a:t>
            </a:r>
            <a:r>
              <a:rPr lang="fr-FR" dirty="0" err="1"/>
              <a:t>marked</a:t>
            </a:r>
            <a:r>
              <a:rPr lang="fr-FR" dirty="0"/>
              <a:t> (</a:t>
            </a:r>
            <a:r>
              <a:rPr lang="fr-FR" dirty="0" err="1"/>
              <a:t>pending</a:t>
            </a:r>
            <a:r>
              <a:rPr lang="fr-FR" dirty="0"/>
              <a:t> FDA </a:t>
            </a:r>
            <a:r>
              <a:rPr lang="fr-FR" dirty="0" err="1"/>
              <a:t>approval</a:t>
            </a:r>
            <a:r>
              <a:rPr lang="fr-FR" dirty="0"/>
              <a:t> in 2022)</a:t>
            </a:r>
          </a:p>
          <a:p>
            <a:r>
              <a:rPr lang="fr-FR" dirty="0" err="1"/>
              <a:t>Recording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(Long-</a:t>
            </a:r>
            <a:r>
              <a:rPr lang="fr-FR" dirty="0" err="1"/>
              <a:t>term</a:t>
            </a:r>
            <a:r>
              <a:rPr lang="fr-FR" dirty="0"/>
              <a:t> EEG, up to 15mo)</a:t>
            </a:r>
          </a:p>
          <a:p>
            <a:r>
              <a:rPr lang="fr-FR" dirty="0" err="1"/>
              <a:t>unilateral</a:t>
            </a:r>
            <a:endParaRPr lang="fr-FR" dirty="0"/>
          </a:p>
          <a:p>
            <a:r>
              <a:rPr lang="fr-FR" dirty="0"/>
              <a:t>Target: </a:t>
            </a:r>
            <a:r>
              <a:rPr lang="fr-FR" dirty="0" err="1"/>
              <a:t>Epilepsy</a:t>
            </a:r>
            <a:endParaRPr lang="fr-FR" dirty="0"/>
          </a:p>
          <a:p>
            <a:r>
              <a:rPr lang="fr-FR" dirty="0" err="1"/>
              <a:t>Two</a:t>
            </a:r>
            <a:r>
              <a:rPr lang="fr-FR" dirty="0"/>
              <a:t> active </a:t>
            </a:r>
            <a:r>
              <a:rPr lang="fr-FR" dirty="0" err="1"/>
              <a:t>electrodes</a:t>
            </a:r>
            <a:r>
              <a:rPr lang="fr-FR" dirty="0"/>
              <a:t>, one </a:t>
            </a:r>
            <a:r>
              <a:rPr lang="fr-FR" dirty="0" err="1"/>
              <a:t>reference</a:t>
            </a:r>
            <a:r>
              <a:rPr lang="fr-FR" dirty="0"/>
              <a:t> (middle)</a:t>
            </a:r>
          </a:p>
          <a:p>
            <a:pPr lvl="1"/>
            <a:r>
              <a:rPr lang="fr-FR" dirty="0"/>
              <a:t>Position </a:t>
            </a:r>
            <a:r>
              <a:rPr lang="fr-FR" dirty="0" err="1"/>
              <a:t>chosen</a:t>
            </a:r>
            <a:r>
              <a:rPr lang="fr-FR" dirty="0"/>
              <a:t> to </a:t>
            </a:r>
            <a:r>
              <a:rPr lang="fr-FR" dirty="0" err="1"/>
              <a:t>accomodate</a:t>
            </a:r>
            <a:r>
              <a:rPr lang="fr-FR" dirty="0"/>
              <a:t> the </a:t>
            </a:r>
            <a:r>
              <a:rPr lang="fr-FR" dirty="0" err="1"/>
              <a:t>clinical</a:t>
            </a:r>
            <a:r>
              <a:rPr lang="fr-FR" dirty="0"/>
              <a:t> question</a:t>
            </a:r>
          </a:p>
          <a:p>
            <a:pPr lvl="1"/>
            <a:r>
              <a:rPr lang="fr-FR" b="1" dirty="0"/>
              <a:t>Local </a:t>
            </a:r>
            <a:r>
              <a:rPr lang="fr-FR" b="1" dirty="0" err="1"/>
              <a:t>anesthesia</a:t>
            </a:r>
            <a:endParaRPr lang="fr-FR" b="1" dirty="0"/>
          </a:p>
          <a:p>
            <a:r>
              <a:rPr lang="fr-FR" dirty="0" err="1"/>
              <a:t>Implanted</a:t>
            </a:r>
            <a:r>
              <a:rPr lang="fr-FR" dirty="0"/>
              <a:t> lead </a:t>
            </a:r>
            <a:r>
              <a:rPr lang="fr-FR" dirty="0" err="1"/>
              <a:t>connects</a:t>
            </a:r>
            <a:r>
              <a:rPr lang="fr-FR" dirty="0"/>
              <a:t> to </a:t>
            </a:r>
            <a:r>
              <a:rPr lang="fr-FR" dirty="0" err="1"/>
              <a:t>external</a:t>
            </a:r>
            <a:r>
              <a:rPr lang="fr-FR" dirty="0"/>
              <a:t> </a:t>
            </a:r>
            <a:r>
              <a:rPr lang="fr-FR" dirty="0" err="1"/>
              <a:t>storage</a:t>
            </a:r>
            <a:r>
              <a:rPr lang="fr-FR" dirty="0"/>
              <a:t> unit </a:t>
            </a:r>
            <a:r>
              <a:rPr lang="fr-FR" dirty="0" err="1"/>
              <a:t>through</a:t>
            </a:r>
            <a:r>
              <a:rPr lang="fr-FR" dirty="0"/>
              <a:t> inductive </a:t>
            </a:r>
            <a:r>
              <a:rPr lang="fr-FR" dirty="0" err="1"/>
              <a:t>link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3"/>
            <a:ext cx="7477125" cy="608324"/>
          </a:xfrm>
        </p:spPr>
        <p:txBody>
          <a:bodyPr>
            <a:normAutofit/>
          </a:bodyPr>
          <a:lstStyle/>
          <a:p>
            <a:pPr algn="l" fontAlgn="base"/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24/7 EEG</a:t>
            </a:r>
            <a:r>
              <a:rPr lang="fr-CH" b="0" i="0" baseline="30000" dirty="0">
                <a:solidFill>
                  <a:srgbClr val="1F1F1F"/>
                </a:solidFill>
                <a:effectLst/>
                <a:latin typeface="ElsevierGulliver"/>
              </a:rPr>
              <a:t>TM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 </a:t>
            </a:r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SubQ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 </a:t>
            </a:r>
            <a:r>
              <a:rPr lang="fr-CH" b="0" i="0" dirty="0">
                <a:solidFill>
                  <a:srgbClr val="0F1120"/>
                </a:solidFill>
                <a:effectLst/>
                <a:latin typeface="Encode Sans"/>
              </a:rPr>
              <a:t>(UNEEG </a:t>
            </a:r>
            <a:r>
              <a:rPr lang="fr-CH" b="0" i="0" dirty="0" err="1">
                <a:solidFill>
                  <a:srgbClr val="0F1120"/>
                </a:solidFill>
                <a:effectLst/>
                <a:latin typeface="Encode Sans"/>
              </a:rPr>
              <a:t>medica</a:t>
            </a:r>
            <a:r>
              <a:rPr lang="fr-CH" b="0" dirty="0" err="1">
                <a:solidFill>
                  <a:srgbClr val="0F1120"/>
                </a:solidFill>
                <a:latin typeface="Encode Sans"/>
              </a:rPr>
              <a:t>l</a:t>
            </a:r>
            <a:r>
              <a:rPr lang="fr-CH" b="0" dirty="0">
                <a:solidFill>
                  <a:srgbClr val="0F1120"/>
                </a:solidFill>
                <a:latin typeface="Encode Sans"/>
              </a:rPr>
              <a:t>, </a:t>
            </a:r>
            <a:r>
              <a:rPr lang="fr-CH" b="0" dirty="0" err="1">
                <a:solidFill>
                  <a:srgbClr val="0F1120"/>
                </a:solidFill>
                <a:latin typeface="Encode Sans"/>
              </a:rPr>
              <a:t>Denmark</a:t>
            </a:r>
            <a:r>
              <a:rPr lang="fr-CH" b="0" dirty="0">
                <a:solidFill>
                  <a:srgbClr val="0F1120"/>
                </a:solidFill>
                <a:latin typeface="Encode Sans"/>
              </a:rPr>
              <a:t>)</a:t>
            </a:r>
            <a:endParaRPr lang="fr-CH" b="0" i="0" dirty="0">
              <a:solidFill>
                <a:srgbClr val="0F1120"/>
              </a:solidFill>
              <a:effectLst/>
              <a:latin typeface="Encode San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6D6D8A-C05D-4FE9-AC99-B3671CF08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273" y="1928856"/>
            <a:ext cx="1481451" cy="12857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714D27-7381-4DA7-A9CF-965D9B27B969}"/>
              </a:ext>
            </a:extLst>
          </p:cNvPr>
          <p:cNvSpPr txBox="1"/>
          <p:nvPr/>
        </p:nvSpPr>
        <p:spPr>
          <a:xfrm>
            <a:off x="4555487" y="4885690"/>
            <a:ext cx="4576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CH" sz="1100" i="1" dirty="0"/>
              <a:t>https://www.uneeg.com/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BBB571-9DF3-4C80-AB1A-3083357D4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610" y="1707806"/>
            <a:ext cx="1445097" cy="148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13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DA1CFAA-1EA6-4CD6-8854-C5A41E4B9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721" y="637430"/>
            <a:ext cx="3160395" cy="1285788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3"/>
            <a:ext cx="7477125" cy="608324"/>
          </a:xfrm>
        </p:spPr>
        <p:txBody>
          <a:bodyPr>
            <a:normAutofit/>
          </a:bodyPr>
          <a:lstStyle/>
          <a:p>
            <a:pPr algn="l" fontAlgn="base"/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24/7 EEG</a:t>
            </a:r>
            <a:r>
              <a:rPr lang="fr-CH" b="0" i="0" baseline="30000" dirty="0">
                <a:solidFill>
                  <a:srgbClr val="1F1F1F"/>
                </a:solidFill>
                <a:effectLst/>
                <a:latin typeface="ElsevierGulliver"/>
              </a:rPr>
              <a:t>TM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 </a:t>
            </a:r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SubQ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 </a:t>
            </a:r>
            <a:r>
              <a:rPr lang="fr-CH" b="0" i="0" dirty="0">
                <a:solidFill>
                  <a:srgbClr val="0F1120"/>
                </a:solidFill>
                <a:effectLst/>
                <a:latin typeface="Encode Sans"/>
              </a:rPr>
              <a:t>(UNEEG </a:t>
            </a:r>
            <a:r>
              <a:rPr lang="fr-CH" b="0" i="0" dirty="0" err="1">
                <a:solidFill>
                  <a:srgbClr val="0F1120"/>
                </a:solidFill>
                <a:effectLst/>
                <a:latin typeface="Encode Sans"/>
              </a:rPr>
              <a:t>medica</a:t>
            </a:r>
            <a:r>
              <a:rPr lang="fr-CH" b="0" dirty="0" err="1">
                <a:solidFill>
                  <a:srgbClr val="0F1120"/>
                </a:solidFill>
                <a:latin typeface="Encode Sans"/>
              </a:rPr>
              <a:t>l</a:t>
            </a:r>
            <a:r>
              <a:rPr lang="fr-CH" b="0" dirty="0">
                <a:solidFill>
                  <a:srgbClr val="0F1120"/>
                </a:solidFill>
                <a:latin typeface="Encode Sans"/>
              </a:rPr>
              <a:t>, </a:t>
            </a:r>
            <a:r>
              <a:rPr lang="fr-CH" b="0" dirty="0" err="1">
                <a:solidFill>
                  <a:srgbClr val="0F1120"/>
                </a:solidFill>
                <a:latin typeface="Encode Sans"/>
              </a:rPr>
              <a:t>Denmark</a:t>
            </a:r>
            <a:r>
              <a:rPr lang="fr-CH" b="0" dirty="0">
                <a:solidFill>
                  <a:srgbClr val="0F1120"/>
                </a:solidFill>
                <a:latin typeface="Encode Sans"/>
              </a:rPr>
              <a:t>)</a:t>
            </a:r>
            <a:endParaRPr lang="fr-CH" b="0" i="0" dirty="0">
              <a:solidFill>
                <a:srgbClr val="0F1120"/>
              </a:solidFill>
              <a:effectLst/>
              <a:latin typeface="Encode San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6D6D8A-C05D-4FE9-AC99-B3671CF08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273" y="1928856"/>
            <a:ext cx="1481451" cy="1285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BBB571-9DF3-4C80-AB1A-3083357D4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610" y="1707806"/>
            <a:ext cx="1445097" cy="1486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3E7D0A-B850-45D7-8434-48F30524D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66" y="672162"/>
            <a:ext cx="4041990" cy="39020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439EC92-917E-4E04-9623-6AF3C8221039}"/>
              </a:ext>
            </a:extLst>
          </p:cNvPr>
          <p:cNvSpPr txBox="1"/>
          <p:nvPr/>
        </p:nvSpPr>
        <p:spPr>
          <a:xfrm>
            <a:off x="4555487" y="4885690"/>
            <a:ext cx="4576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CH" sz="1100" i="1" dirty="0"/>
              <a:t>https://www.uneeg.com/</a:t>
            </a:r>
          </a:p>
        </p:txBody>
      </p:sp>
    </p:spTree>
    <p:extLst>
      <p:ext uri="{BB962C8B-B14F-4D97-AF65-F5344CB8AC3E}">
        <p14:creationId xmlns:p14="http://schemas.microsoft.com/office/powerpoint/2010/main" val="1176599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C04D4F0-9F00-D043-B80F-52268AB0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6" y="739355"/>
            <a:ext cx="5395308" cy="2833381"/>
          </a:xfrm>
        </p:spPr>
        <p:txBody>
          <a:bodyPr/>
          <a:lstStyle/>
          <a:p>
            <a:r>
              <a:rPr lang="fr-FR" dirty="0" err="1"/>
              <a:t>Recording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(</a:t>
            </a:r>
            <a:r>
              <a:rPr lang="fr-FR" dirty="0" err="1"/>
              <a:t>unilateral</a:t>
            </a:r>
            <a:r>
              <a:rPr lang="fr-FR" dirty="0"/>
              <a:t>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3"/>
            <a:ext cx="7477125" cy="608324"/>
          </a:xfrm>
        </p:spPr>
        <p:txBody>
          <a:bodyPr>
            <a:normAutofit/>
          </a:bodyPr>
          <a:lstStyle/>
          <a:p>
            <a:pPr algn="l" fontAlgn="base"/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Neuroview</a:t>
            </a:r>
            <a:r>
              <a:rPr lang="fr-CH" b="0" i="0" baseline="30000" dirty="0" err="1">
                <a:solidFill>
                  <a:srgbClr val="1F1F1F"/>
                </a:solidFill>
                <a:effectLst/>
                <a:latin typeface="ElsevierGulliver"/>
              </a:rPr>
              <a:t>TM</a:t>
            </a:r>
            <a:r>
              <a:rPr lang="fr-CH" b="0" i="0" baseline="30000" dirty="0">
                <a:solidFill>
                  <a:srgbClr val="1F1F1F"/>
                </a:solidFill>
                <a:effectLst/>
                <a:latin typeface="ElsevierGulliver"/>
              </a:rPr>
              <a:t> 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(</a:t>
            </a:r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Neuroview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 </a:t>
            </a:r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Technology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, NJ)</a:t>
            </a:r>
            <a:endParaRPr lang="fr-CH" b="0" i="0" dirty="0">
              <a:solidFill>
                <a:srgbClr val="0F1120"/>
              </a:solidFill>
              <a:effectLst/>
              <a:latin typeface="Encode San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06E0EE-1151-45B0-9501-7D1E2395BB6E}"/>
              </a:ext>
            </a:extLst>
          </p:cNvPr>
          <p:cNvSpPr txBox="1"/>
          <p:nvPr/>
        </p:nvSpPr>
        <p:spPr>
          <a:xfrm>
            <a:off x="4572000" y="4881890"/>
            <a:ext cx="4576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r">
              <a:defRPr sz="1100" i="1"/>
            </a:lvl1pPr>
          </a:lstStyle>
          <a:p>
            <a:r>
              <a:rPr lang="fr-CH" dirty="0"/>
              <a:t>https://neuroviewtech.com/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6B3CB5-F302-4BB8-8ABD-6A823C788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44" y="1251045"/>
            <a:ext cx="6573167" cy="18100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15CB4F-BF3A-40C6-B863-07232D609D2E}"/>
              </a:ext>
            </a:extLst>
          </p:cNvPr>
          <p:cNvSpPr txBox="1"/>
          <p:nvPr/>
        </p:nvSpPr>
        <p:spPr>
          <a:xfrm>
            <a:off x="1266825" y="3234214"/>
            <a:ext cx="351472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21 </a:t>
            </a:r>
            <a:r>
              <a:rPr lang="fr-CH" dirty="0" err="1"/>
              <a:t>epilepsy</a:t>
            </a:r>
            <a:r>
              <a:rPr lang="fr-CH" dirty="0"/>
              <a:t> patients </a:t>
            </a:r>
            <a:r>
              <a:rPr lang="fr-CH" dirty="0" err="1"/>
              <a:t>undergoing</a:t>
            </a:r>
            <a:r>
              <a:rPr lang="fr-CH" dirty="0"/>
              <a:t> </a:t>
            </a:r>
            <a:r>
              <a:rPr lang="fr-CH" dirty="0" err="1"/>
              <a:t>iEEG</a:t>
            </a:r>
            <a:r>
              <a:rPr lang="fr-CH" dirty="0"/>
              <a:t> + </a:t>
            </a:r>
            <a:r>
              <a:rPr lang="fr-CH" dirty="0" err="1"/>
              <a:t>subgaleal</a:t>
            </a:r>
            <a:r>
              <a:rPr lang="fr-CH" dirty="0"/>
              <a:t> EEG</a:t>
            </a:r>
          </a:p>
        </p:txBody>
      </p:sp>
    </p:spTree>
    <p:extLst>
      <p:ext uri="{BB962C8B-B14F-4D97-AF65-F5344CB8AC3E}">
        <p14:creationId xmlns:p14="http://schemas.microsoft.com/office/powerpoint/2010/main" val="241885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C04D4F0-9F00-D043-B80F-52268AB0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6" y="739355"/>
            <a:ext cx="5395308" cy="2833381"/>
          </a:xfrm>
        </p:spPr>
        <p:txBody>
          <a:bodyPr/>
          <a:lstStyle/>
          <a:p>
            <a:r>
              <a:rPr lang="fr-FR" dirty="0" err="1"/>
              <a:t>Recording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  <a:p>
            <a:r>
              <a:rPr lang="fr-FR" dirty="0"/>
              <a:t>Target: </a:t>
            </a:r>
            <a:r>
              <a:rPr lang="fr-FR" dirty="0" err="1"/>
              <a:t>Epilepsy</a:t>
            </a:r>
            <a:endParaRPr lang="fr-FR" dirty="0"/>
          </a:p>
          <a:p>
            <a:r>
              <a:rPr lang="fr-FR" dirty="0"/>
              <a:t>Flexible </a:t>
            </a:r>
            <a:r>
              <a:rPr lang="fr-FR" dirty="0" err="1"/>
              <a:t>electrodes</a:t>
            </a:r>
            <a:r>
              <a:rPr lang="fr-FR" dirty="0"/>
              <a:t>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3"/>
            <a:ext cx="7477125" cy="608324"/>
          </a:xfrm>
        </p:spPr>
        <p:txBody>
          <a:bodyPr>
            <a:normAutofit/>
          </a:bodyPr>
          <a:lstStyle/>
          <a:p>
            <a:pPr algn="l" fontAlgn="base"/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Soenia</a:t>
            </a:r>
            <a:r>
              <a:rPr lang="fr-CH" b="1" i="0" dirty="0">
                <a:solidFill>
                  <a:srgbClr val="1F1F1F"/>
                </a:solidFill>
                <a:effectLst/>
                <a:latin typeface="ElsevierGulliver"/>
              </a:rPr>
              <a:t>®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 </a:t>
            </a:r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UltimateEEG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™ (</a:t>
            </a:r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Soenia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, </a:t>
            </a:r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Finland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)</a:t>
            </a:r>
            <a:endParaRPr lang="fr-CH" b="0" i="0" dirty="0">
              <a:solidFill>
                <a:srgbClr val="0F1120"/>
              </a:solidFill>
              <a:effectLst/>
              <a:latin typeface="Encode San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5341D2-923E-4B0D-82A7-B041E610C974}"/>
              </a:ext>
            </a:extLst>
          </p:cNvPr>
          <p:cNvSpPr txBox="1"/>
          <p:nvPr/>
        </p:nvSpPr>
        <p:spPr>
          <a:xfrm>
            <a:off x="4567238" y="4885504"/>
            <a:ext cx="4576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r">
              <a:defRPr sz="1100" i="1"/>
            </a:lvl1pPr>
          </a:lstStyle>
          <a:p>
            <a:r>
              <a:rPr lang="fr-CH" dirty="0"/>
              <a:t>https://soenia.fi/electrode-implant/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C936BE-9119-4654-8C55-C630E6D50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941" y="739357"/>
            <a:ext cx="2313678" cy="334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16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C04D4F0-9F00-D043-B80F-52268AB0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6" y="739355"/>
            <a:ext cx="5395308" cy="608325"/>
          </a:xfrm>
        </p:spPr>
        <p:txBody>
          <a:bodyPr/>
          <a:lstStyle/>
          <a:p>
            <a:r>
              <a:rPr lang="fr-FR" dirty="0" err="1"/>
              <a:t>Computational</a:t>
            </a:r>
            <a:r>
              <a:rPr lang="fr-FR" dirty="0"/>
              <a:t> </a:t>
            </a:r>
            <a:r>
              <a:rPr lang="fr-FR" dirty="0" err="1"/>
              <a:t>studies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31033"/>
            <a:ext cx="7477125" cy="608324"/>
          </a:xfrm>
        </p:spPr>
        <p:txBody>
          <a:bodyPr>
            <a:normAutofit/>
          </a:bodyPr>
          <a:lstStyle/>
          <a:p>
            <a:pPr algn="l" fontAlgn="base"/>
            <a:r>
              <a:rPr lang="fr-CH" b="0" i="0" dirty="0" err="1">
                <a:solidFill>
                  <a:srgbClr val="1F1F1F"/>
                </a:solidFill>
                <a:effectLst/>
                <a:latin typeface="ElsevierGulliver"/>
              </a:rPr>
              <a:t>Minimally</a:t>
            </a:r>
            <a:r>
              <a:rPr lang="fr-CH" b="0" i="0" dirty="0">
                <a:solidFill>
                  <a:srgbClr val="1F1F1F"/>
                </a:solidFill>
                <a:effectLst/>
                <a:latin typeface="ElsevierGulliver"/>
              </a:rPr>
              <a:t> invasive TIS</a:t>
            </a:r>
            <a:endParaRPr lang="fr-CH" b="0" i="0" dirty="0">
              <a:solidFill>
                <a:srgbClr val="0F1120"/>
              </a:solidFill>
              <a:effectLst/>
              <a:latin typeface="Encode San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Simona Losacco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14</a:t>
            </a:fld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C61D4-FCED-4279-ABE2-0F25F9B06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947" y="655775"/>
            <a:ext cx="3502433" cy="957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1915AC-0BA2-4D49-8F0C-26131B6E8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789" y="1725779"/>
            <a:ext cx="3572374" cy="9914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BA3463-D03D-4E82-BEA3-FFFE3EE82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6947" y="2848720"/>
            <a:ext cx="3477422" cy="1254390"/>
          </a:xfrm>
          <a:prstGeom prst="rect">
            <a:avLst/>
          </a:prstGeom>
        </p:spPr>
      </p:pic>
      <p:sp>
        <p:nvSpPr>
          <p:cNvPr id="16" name="Espace réservé du contenu 1">
            <a:extLst>
              <a:ext uri="{FF2B5EF4-FFF2-40B4-BE49-F238E27FC236}">
                <a16:creationId xmlns:a16="http://schemas.microsoft.com/office/drawing/2014/main" id="{1CE07C15-8CB8-478F-870B-8B9FDCAD8F08}"/>
              </a:ext>
            </a:extLst>
          </p:cNvPr>
          <p:cNvSpPr txBox="1">
            <a:spLocks/>
          </p:cNvSpPr>
          <p:nvPr/>
        </p:nvSpPr>
        <p:spPr>
          <a:xfrm>
            <a:off x="904876" y="2980169"/>
            <a:ext cx="5395308" cy="608325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Phantom simulations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20993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C127AB4946248A5685C1F92D54FFE" ma:contentTypeVersion="0" ma:contentTypeDescription="Crée un document." ma:contentTypeScope="" ma:versionID="ef3ff242486930b75c69099c0dd02c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6205E9-12FC-4D6C-B0C7-1E9025EEB1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8CE09B-89B1-4B5D-BED2-87C84F0777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48A6C70-7FF5-480A-B09B-7D0A19B2F43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1038</TotalTime>
  <Words>662</Words>
  <Application>Microsoft Office PowerPoint</Application>
  <PresentationFormat>On-screen Show (16:9)</PresentationFormat>
  <Paragraphs>117</Paragraphs>
  <Slides>14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AkkuratStd</vt:lpstr>
      <vt:lpstr>Arial</vt:lpstr>
      <vt:lpstr>ElsevierGulliver</vt:lpstr>
      <vt:lpstr>Encode Sans</vt:lpstr>
      <vt:lpstr>Franklin Gothic Demi Cond</vt:lpstr>
      <vt:lpstr>GT Zirkon</vt:lpstr>
      <vt:lpstr>RegisteredSign</vt:lpstr>
      <vt:lpstr>Wingdings</vt:lpstr>
      <vt:lpstr>Thème Office</vt:lpstr>
      <vt:lpstr>Market analysis for minimally invasive TIS</vt:lpstr>
      <vt:lpstr>PowerPoint Presentation</vt:lpstr>
      <vt:lpstr>Epios™ (Wyss Center)</vt:lpstr>
      <vt:lpstr>Epios™ (Wyss Center) </vt:lpstr>
      <vt:lpstr>EASEE® (Precisis, Heidelberg) </vt:lpstr>
      <vt:lpstr>EASEE® (Precisis, Heidelberg) </vt:lpstr>
      <vt:lpstr>EASEE® (Precisis, Heidelberg) </vt:lpstr>
      <vt:lpstr>EASEE® (Precisis, Heidelberg) </vt:lpstr>
      <vt:lpstr>Minder® system (epiminder, Australia)</vt:lpstr>
      <vt:lpstr>24/7 EEGTM SubQ (UNEEG medical, Denmark)</vt:lpstr>
      <vt:lpstr>24/7 EEGTM SubQ (UNEEG medical, Denmark)</vt:lpstr>
      <vt:lpstr>NeuroviewTM (Neuroview Technology, NJ)</vt:lpstr>
      <vt:lpstr>Soenia® UltimateEEG™ (Soenia, Finland)</vt:lpstr>
      <vt:lpstr>Minimally invasive TIS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Simona Losacco</cp:lastModifiedBy>
  <cp:revision>69</cp:revision>
  <dcterms:created xsi:type="dcterms:W3CDTF">2019-04-02T06:24:35Z</dcterms:created>
  <dcterms:modified xsi:type="dcterms:W3CDTF">2025-01-17T16:00:41Z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0x0101001BFC127AB4946248A5685C1F92D54FFE</vt:lpwstr>
  </property>
</Properties>
</file>